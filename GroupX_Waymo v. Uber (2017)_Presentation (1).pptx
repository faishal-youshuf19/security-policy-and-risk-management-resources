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2.png"/><Relationship Id="rId13" Type="http://schemas.openxmlformats.org/officeDocument/2006/relationships/image" Target="../media/image6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5" Type="http://schemas.openxmlformats.org/officeDocument/2006/relationships/image" Target="../media/image9.png"/><Relationship Id="rId14" Type="http://schemas.openxmlformats.org/officeDocument/2006/relationships/image" Target="../media/image13.png"/><Relationship Id="rId17" Type="http://schemas.openxmlformats.org/officeDocument/2006/relationships/image" Target="../media/image7.png"/><Relationship Id="rId16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18" Type="http://schemas.openxmlformats.org/officeDocument/2006/relationships/image" Target="../media/image5.png"/><Relationship Id="rId7" Type="http://schemas.openxmlformats.org/officeDocument/2006/relationships/image" Target="../media/image23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48.png"/><Relationship Id="rId7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51.png"/><Relationship Id="rId8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3.png"/><Relationship Id="rId6" Type="http://schemas.openxmlformats.org/officeDocument/2006/relationships/image" Target="../media/image47.png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412807" y="2007989"/>
            <a:ext cx="56807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MITS 5600G: Security Policies and Risk Management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300525" y="2484239"/>
            <a:ext cx="7590948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Waymo v. Uber (2017)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2" y="3547169"/>
            <a:ext cx="6086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Case Study 30: Insider Threats &amp; Corporate Governance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43425" y="3912840"/>
            <a:ext cx="3105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Group 30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543425" y="4301430"/>
            <a:ext cx="3105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Shah Md Julhash Tamim  |  101002572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43425" y="4575720"/>
            <a:ext cx="3105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Faishal Youshuf  |  101044804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052637"/>
            <a:ext cx="4667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052637"/>
            <a:ext cx="4667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986087"/>
            <a:ext cx="4667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986087"/>
            <a:ext cx="4667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3919537"/>
            <a:ext cx="4667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0" y="3919537"/>
            <a:ext cx="46672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3500" y="4852987"/>
            <a:ext cx="46672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0" y="4852987"/>
            <a:ext cx="46672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Presentation Overview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381625" y="900112"/>
            <a:ext cx="14287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28775" y="230981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86525" y="230981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628775" y="324326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86525" y="324326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628775" y="417671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486525" y="417671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28775" y="5233987"/>
            <a:ext cx="375791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86525" y="5233987"/>
            <a:ext cx="3810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381250"/>
            <a:ext cx="5133975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81250"/>
            <a:ext cx="5133975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581025"/>
            <a:ext cx="111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Background: Organizations &amp; The Insiders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71525" y="6115050"/>
            <a:ext cx="442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Source: Isaac, M. (2019). Super Pumped: The Battle for Uber. 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400175" y="2724150"/>
            <a:ext cx="4370546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Organizations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943725" y="2724150"/>
            <a:ext cx="4340542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Central Figure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4425" y="277653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400175" y="3343275"/>
            <a:ext cx="41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Waymo (Alphabet):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Allocated $1.1B+ towards research and development in the field of autonomous technology.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400175" y="4199860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Uber: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Ride-hailing company desperately working to develop an enterprise program to stay alive.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77653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915150" y="3343275"/>
            <a:ext cx="4340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Anthony Levandowski: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Waymo senior engineer Anthony Levandowski who has administrative power.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15150" y="4000500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Private planned and had the intention to start up a rival company (Otto) while working.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915150" y="4657725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Discovered and removed a large number </a:t>
            </a:r>
            <a:r>
              <a:rPr b="1"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(14,000+ files, 9.7 GB)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highly restricted information.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422799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0386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69582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1619250"/>
            <a:ext cx="10648949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71525" y="581025"/>
            <a:ext cx="111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Attack Timeline: Incident Unfolds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885652" y="3951833"/>
            <a:ext cx="771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 2015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3289" y="339700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543050" y="2619225"/>
            <a:ext cx="1456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Levandowski illegally downloads 9.7 GB of data.</a:t>
            </a:r>
            <a:endParaRPr sz="1200"/>
          </a:p>
        </p:txBody>
      </p:sp>
      <p:sp>
        <p:nvSpPr>
          <p:cNvPr id="146" name="Google Shape;146;p16"/>
          <p:cNvSpPr txBox="1"/>
          <p:nvPr/>
        </p:nvSpPr>
        <p:spPr>
          <a:xfrm>
            <a:off x="3455200" y="2754166"/>
            <a:ext cx="1456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Resigns suddenly and without notice.</a:t>
            </a:r>
            <a:endParaRPr sz="1200"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5433" y="338941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3807321" y="3858517"/>
            <a:ext cx="752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Jan 2016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4702" y="3858517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Feb 2016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577" y="338866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367324" y="2337500"/>
            <a:ext cx="15984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Starting a new company, the autonomous trucking company ‘Otto'.</a:t>
            </a:r>
            <a:endParaRPr sz="1200"/>
          </a:p>
        </p:txBody>
      </p:sp>
      <p:sp>
        <p:nvSpPr>
          <p:cNvPr id="152" name="Google Shape;152;p16"/>
          <p:cNvSpPr txBox="1"/>
          <p:nvPr/>
        </p:nvSpPr>
        <p:spPr>
          <a:xfrm>
            <a:off x="7279481" y="2669679"/>
            <a:ext cx="1456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Uber buys $680 million worth of Otto.</a:t>
            </a:r>
            <a:endParaRPr sz="1200"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9721" y="338941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612558" y="3858517"/>
            <a:ext cx="790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Aug 2016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548514" y="3858517"/>
            <a:ext cx="742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Feb 2017</a:t>
            </a:r>
            <a:endParaRPr/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1864" y="338866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9191625" y="2573238"/>
            <a:ext cx="1456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Waymo sues Uber in the Federal courts.</a:t>
            </a:r>
            <a:endParaRPr sz="1200"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6164" y="353987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75212" y="351085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00452" y="351085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99499" y="351085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1643" y="351085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1543050" y="3390900"/>
            <a:ext cx="91059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Technical Aspects: Exfiltration Mechanics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2448966"/>
            <a:ext cx="1064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Target: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"electronic eyes" of autonomous vehicles (e.g., Trade Secret 14), which use Waymo's proprietary LiDAR (Light Detection and Ranging) technology.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88550" y="4462584"/>
            <a:ext cx="246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001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Legitimate Access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(SVN Repositories)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325" y="45386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3551506" y="4483179"/>
            <a:ext cx="22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620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Bulk Scraping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(14,000+ Files)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275" y="45386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623097" y="4479602"/>
            <a:ext cx="26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763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Unauthorized Media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(SD Cards Transfer)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3171" y="453866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8000379" y="4503766"/>
            <a:ext cx="26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382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Forensic Evasion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(Laptop Wiped)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4989" y="3597616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4498" y="3597613"/>
            <a:ext cx="762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3703" y="3552836"/>
            <a:ext cx="8763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58725" y="3597613"/>
            <a:ext cx="8382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052637"/>
            <a:ext cx="51339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2637"/>
            <a:ext cx="51339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Governance &amp; Policy Failures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485900" y="2395537"/>
            <a:ext cx="42805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Waymo's Failures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029450" y="2395537"/>
            <a:ext cx="42505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Uber's Failures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4425" y="24479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1400175" y="3014662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Improper use of privileges and/or failed enforcement of the Least Privilege principle.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400175" y="3671887"/>
            <a:ext cx="4162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technical hurdles with mass USB transfers.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400175" y="4109816"/>
            <a:ext cx="41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There was not any Behavioral Analytics: No detection of abnormal, mass data scraping before resignation.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400175" y="4986337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Weak Offboarding; No connection of forensic audits with employee separations.</a:t>
            </a:r>
            <a:endParaRPr/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4479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6915150" y="3014662"/>
            <a:ext cx="41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 independent "clean room" IP audit has been conducted and the acquisition was approved by the Board without this audit.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915150" y="3929062"/>
            <a:ext cx="41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Focussed on quick domination of the market rather than legal standards and risk of hiring third parties.</a:t>
            </a:r>
            <a:endParaRPr/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305276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370998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414791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502443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05276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96716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242393"/>
            <a:ext cx="10648950" cy="1139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667273"/>
            <a:ext cx="5181600" cy="1986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3667273"/>
            <a:ext cx="5181600" cy="198655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Evaluating Incident Response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1066800" y="2537668"/>
            <a:ext cx="10058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Accidental Discovery: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Reactively detecte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vendor by chance included a copy of Waymo in an email containing Uber's exact copy of the LiDAR design.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457325" y="4010173"/>
            <a:ext cx="43605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Legal Success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1143000" y="4414432"/>
            <a:ext cx="44673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Waymo filed instant court cases. Uber parted ways with Levandowski, paid his way out of the trial with $245 million of a settlement, and entered into a contract to never use Waymo's IP again.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896100" y="4010173"/>
            <a:ext cx="43905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717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Failure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10350" y="4434368"/>
            <a:ext cx="44673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Technical response was totally ineffective. Since the proprietary information could not be detected for a year, the confidentiality of the proprietary information had already been lost.</a:t>
            </a:r>
            <a:endParaRPr/>
          </a:p>
        </p:txBody>
      </p:sp>
      <p:pic>
        <p:nvPicPr>
          <p:cNvPr descr="image.png" id="220" name="Google Shape;22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406256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0350" y="4062561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436614"/>
            <a:ext cx="3359050" cy="3022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325" y="2436614"/>
            <a:ext cx="3359199" cy="3022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1275" y="2436614"/>
            <a:ext cx="3359050" cy="3022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771525" y="581025"/>
            <a:ext cx="111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Implications of the Breach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0550" y="292238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1355913" y="3541514"/>
            <a:ext cx="21902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Legal &amp; Regulatory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7325" y="3998725"/>
            <a:ext cx="321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law was enacted as a result of spurred by the Defend Trade Secrets Act (</a:t>
            </a:r>
            <a:r>
              <a:rPr i="1"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DTSA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 Levandowski has been indicted on </a:t>
            </a:r>
            <a:r>
              <a:rPr b="1"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33 federal criminal charges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IP theft.</a:t>
            </a:r>
            <a:endParaRPr/>
          </a:p>
        </p:txBody>
      </p:sp>
      <p:pic>
        <p:nvPicPr>
          <p:cNvPr descr="image.png"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92238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5270748" y="3541514"/>
            <a:ext cx="16502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Ethical Lapses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4711600" y="3998714"/>
            <a:ext cx="27687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Uber's entire business model was wrong because it ignores the fact that a key part of the start-up's technology was stolen.</a:t>
            </a:r>
            <a:endParaRPr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50300" y="292238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8780680" y="3541514"/>
            <a:ext cx="19202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Impact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163800" y="3998725"/>
            <a:ext cx="3210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Uber's reputation took a big hit, they subsequently had to pay a </a:t>
            </a:r>
            <a:r>
              <a:rPr b="1"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$245M</a:t>
            </a:r>
            <a:r>
              <a:rPr lang="en-US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settlement, and they've idled their autonomous vehicle efforts for many years.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381250"/>
            <a:ext cx="5133975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81250"/>
            <a:ext cx="5133975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771525" y="581025"/>
            <a:ext cx="111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Recommendations &amp; Concepts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771525" y="6115050"/>
            <a:ext cx="524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Source: NIST SP 800-207 (Zero Trust) &amp; CISA Insider Threat Guidelines 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1428750" y="2724150"/>
            <a:ext cx="434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Applied Concepts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972300" y="2724150"/>
            <a:ext cx="431053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Recommendations</a:t>
            </a:r>
            <a:endParaRPr/>
          </a:p>
        </p:txBody>
      </p:sp>
      <p:pic>
        <p:nvPicPr>
          <p:cNvPr descr="image.png" id="251" name="Google Shape;2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4425" y="2776537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1330399" y="3293435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 Trust Architecture (ZTA):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Never trust, always verify. Enforce micro-segmentation.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330400" y="3930725"/>
            <a:ext cx="457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Insider Threat Programs: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Formal Insider Threat Programmer Workflows that Combine HR, IT and Legal.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330400" y="4647750"/>
            <a:ext cx="448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Least Privilege (PoLP):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Ensure access is only given to the most basic roles that are directly related to the function.</a:t>
            </a:r>
            <a:endParaRPr/>
          </a:p>
        </p:txBody>
      </p:sp>
      <p:pic>
        <p:nvPicPr>
          <p:cNvPr descr="image.png" id="255" name="Google Shape;25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7765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6915150" y="3343275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Analytics: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Deploy UEBA to prevent mass and suspicious downloads at real-time.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6915150" y="4000500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Offboarding: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 device lock down and audits during notice times.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915150" y="4657725"/>
            <a:ext cx="4162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Mandatory Code Audits for "Clean Room" prior to Corporate Acquisitions (M&amp;A Vetting).</a:t>
            </a:r>
            <a:endParaRPr/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4553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4553" y="40386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4553" y="46958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3813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0386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69582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1478950"/>
            <a:ext cx="10648949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Discussion Questions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5381625" y="900112"/>
            <a:ext cx="14287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1543050" y="2057400"/>
            <a:ext cx="9534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Would you want to be denied or have your access to the confidential files checked right away, if you were leaving a business?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1543050" y="2970028"/>
            <a:ext cx="953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Can companies use behavioral analytics on their work devices to monitor all their employees' activity?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1543050" y="3653391"/>
            <a:ext cx="953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Is it reasonable Uber has to pay $245 mil when it was the Levandowski who directly stole the files?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1543050" y="4266979"/>
            <a:ext cx="9534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If you hired a new employee and he/she had personal files from his previous employer, what would you do with these files?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543050" y="5033409"/>
            <a:ext cx="9534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What is too much monitoring in the work place? At what point does it enter into the realms of invading privacy?</a:t>
            </a:r>
            <a:endParaRPr/>
          </a:p>
        </p:txBody>
      </p:sp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20859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29986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3652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42855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503208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1619250"/>
            <a:ext cx="1064895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References</a:t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381625" y="900112"/>
            <a:ext cx="14287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1253728" y="2327672"/>
            <a:ext cx="996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Cybersecurity and Infrastructure Security Agency (CISA). (2020).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Insider Threat Mitigation Guide.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1253728" y="3202781"/>
            <a:ext cx="996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Isaac, M. (2019).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Super Pumped: The Battle for Uber. W. W. Norton &amp; Company.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253728" y="4088606"/>
            <a:ext cx="996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National Institute of Standards and Technology (NIST). (2020).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Zero Trust Architecture (NIST Special Publication 800-207).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243013" y="4974431"/>
            <a:ext cx="996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Waymo LLC v. Uber Technologies, Inc.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No. 3:17-cv-00939 (N.D. Cal. filed Feb. 23, 2017).</a:t>
            </a:r>
            <a:endParaRPr/>
          </a:p>
        </p:txBody>
      </p:sp>
      <p:pic>
        <p:nvPicPr>
          <p:cNvPr descr="image.png" id="295" name="Google Shape;2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2333625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3219450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4105275"/>
            <a:ext cx="10373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425" y="4991100"/>
            <a:ext cx="103733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/>
        </p:nvSpPr>
        <p:spPr>
          <a:xfrm>
            <a:off x="3760708" y="2598390"/>
            <a:ext cx="467058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